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2" r:id="rId17"/>
    <p:sldId id="273" r:id="rId18"/>
    <p:sldId id="276" r:id="rId19"/>
    <p:sldId id="278" r:id="rId20"/>
    <p:sldId id="281" r:id="rId2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  <a:p>
            <a:r>
              <a:t>- CSDN blog: 笔记：Contrastive Object-Aware Fusion, https://blog.csdn.net/m0_62102955/article/details/156713834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  <a:p>
            <a:r>
              <a:t>- CSDN blog: 笔记：Contrastive Object-Aware Fusion, https://blog.csdn.net/m0_62102955/article/details/156713834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  <a:p>
            <a:r>
              <a:t>- CSDN blog: 笔记：Contrastive Object-Aware Fusion, https://blog.csdn.net/m0_62102955/article/details/156713834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  <a:p>
            <a:r>
              <a:t>- CSDN blog: 笔记：Contrastive Object-Aware Fusion, https://blog.csdn.net/m0_62102955/article/details/156713834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Zhou et al., COFNet: Contrastive Object-Aware Fusion Using Box-Level Masks for Multispectral Object Detection, IEEE Transactions on Multimedia, Vol. 27, 2025; user-provided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47700" y="1104900"/>
            <a:ext cx="10896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111111"/>
                </a:solidFill>
              </a:defRPr>
            </a:pPr>
            <a:r>
              <a:rPr sz="4200" b="1">
                <a:solidFill>
                  <a:srgbClr val="111111"/>
                </a:solidFill>
              </a:rPr>
              <a:t>COFNet 论文汇报</a:t>
            </a:r>
            <a:endParaRPr sz="4200" b="1">
              <a:solidFill>
                <a:srgbClr val="111111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47700" y="2019300"/>
            <a:ext cx="10896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Contrastive Object-Aware Fusion Using Box-Level Masks for Multispectral Object Detection</a:t>
            </a:r>
            <a:endParaRPr sz="1800" b="0">
              <a:solidFill>
                <a:srgbClr val="111111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56197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66666"/>
                </a:solidFill>
              </a:defRPr>
            </a:pPr>
            <a:r>
              <a:rPr sz="1350" b="0">
                <a:solidFill>
                  <a:srgbClr val="666666"/>
                </a:solidFill>
              </a:rPr>
              <a:t>IEEE Transactions on Multimedia, 2025</a:t>
            </a:r>
            <a:endParaRPr sz="1350" b="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论文要解决的问题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504950"/>
            <a:ext cx="1089660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RGB 与 Thermal 信息互补，但两者都包含大量背景，直接融合容易把背景也当成有效线索。</a:t>
            </a:r>
            <a:endParaRPr sz="1800" b="0">
              <a:solidFill>
                <a:srgbClr val="111111"/>
              </a:solidFill>
            </a:endParaRPr>
          </a:p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检测输出是 bbox + class，输入模态空间和输出检测空间之间存在明显差异。</a:t>
            </a:r>
            <a:endParaRPr sz="1800" b="0">
              <a:solidFill>
                <a:srgbClr val="111111"/>
              </a:solidFill>
            </a:endParaRPr>
          </a:p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COFNet 的做法：由 bbox 构造 box-level mask，把 mask 当作第三种模态和目标区域先验。</a:t>
            </a:r>
            <a:endParaRPr sz="1800" b="0">
              <a:solidFill>
                <a:srgbClr val="111111"/>
              </a:solidFill>
            </a:endParaRPr>
          </a:p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核心机制：用 mask feature contrastive loss 对齐</a:t>
            </a:r>
            <a:r>
              <a:rPr lang="en-US" sz="1800" b="0">
                <a:solidFill>
                  <a:srgbClr val="111111"/>
                </a:solidFill>
              </a:rPr>
              <a:t> </a:t>
            </a:r>
            <a:r>
              <a:rPr sz="1800" b="0">
                <a:solidFill>
                  <a:srgbClr val="111111"/>
                </a:solidFill>
              </a:rPr>
              <a:t>模态特征与 mask 特征；用 MAFM 让跨模态注意力显式聚焦目标区域。</a:t>
            </a:r>
            <a:endParaRPr sz="180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整体思路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334250" y="1524000"/>
            <a:ext cx="400050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上半部分：RGB/Thermal 经过独立 encoder 后进入 mask-guided attention fusion。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下半部分：mask autoencoder training 让 mask 分支学习目标区域表示。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右侧 detection 输出 bbox，训练时同时使用 mask feature contrastive loss。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这张图体现了论文最重要的观点：mask 不只是辅助标签，而是</a:t>
            </a:r>
            <a:r>
              <a:rPr lang="zh-CN" sz="1575" b="0">
                <a:solidFill>
                  <a:srgbClr val="111111"/>
                </a:solidFill>
              </a:rPr>
              <a:t>作为目标鲜艳，辅助模型着重聚焦</a:t>
            </a:r>
            <a:r>
              <a:rPr lang="zh-CN" sz="1575" b="0">
                <a:solidFill>
                  <a:srgbClr val="111111"/>
                </a:solidFill>
              </a:rPr>
              <a:t>区域。</a:t>
            </a:r>
            <a:endParaRPr lang="zh-CN" sz="1575" b="0">
              <a:solidFill>
                <a:srgbClr val="111111"/>
              </a:solidFill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695325" y="1485265"/>
            <a:ext cx="6320155" cy="42233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lang="zh-CN" sz="2700" b="1">
                <a:solidFill>
                  <a:srgbClr val="111111"/>
                </a:solidFill>
              </a:rPr>
              <a:t>整体</a:t>
            </a:r>
            <a:r>
              <a:rPr lang="zh-CN" sz="2700" b="1">
                <a:solidFill>
                  <a:srgbClr val="111111"/>
                </a:solidFill>
              </a:rPr>
              <a:t>网络模型</a:t>
            </a:r>
            <a:endParaRPr lang="zh-CN"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487441"/>
            <a:ext cx="6000750" cy="3883118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000875" y="1428750"/>
            <a:ext cx="428625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三路 backbone：RGB、Thermal、Mask 结构相同但参数独立，输出 Fri、Fti、Fmi。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PMGM：从 Fri 和 Fti 预测该尺度的 mask，解决推理阶段无 GT mask 的问题。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MAFM：使用 mask 指导 RGB/Thermal 双向 cross-attention，输出目标增强的融合特征 F_f^i。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检测：三个尺度的融合特征送入 FPN/Neck 和 Head，输出 bbox 与类别。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lang="zh-CN" sz="1575" b="0">
                <a:solidFill>
                  <a:srgbClr val="111111"/>
                </a:solidFill>
              </a:rPr>
              <a:t>问题：</a:t>
            </a:r>
            <a:endParaRPr lang="zh-CN"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lang="en-US" altLang="zh-CN" sz="1575" b="0">
                <a:solidFill>
                  <a:srgbClr val="111111"/>
                </a:solidFill>
              </a:rPr>
              <a:t>1.</a:t>
            </a:r>
            <a:r>
              <a:rPr lang="zh-CN" altLang="en-US" sz="1575" b="0">
                <a:solidFill>
                  <a:srgbClr val="111111"/>
                </a:solidFill>
              </a:rPr>
              <a:t>训练和推理画在一张图上，导致</a:t>
            </a:r>
            <a:r>
              <a:rPr lang="en-US" altLang="zh-CN" sz="1575" b="0">
                <a:solidFill>
                  <a:srgbClr val="111111"/>
                </a:solidFill>
              </a:rPr>
              <a:t>MAFM</a:t>
            </a:r>
            <a:r>
              <a:rPr lang="zh-CN" altLang="en-US" sz="1575" b="0">
                <a:solidFill>
                  <a:srgbClr val="111111"/>
                </a:solidFill>
              </a:rPr>
              <a:t>看起来像是四输入</a:t>
            </a:r>
            <a:endParaRPr lang="en-US" altLang="zh-CN"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lang="en-US" altLang="zh-CN" sz="1575" b="0">
                <a:solidFill>
                  <a:srgbClr val="111111"/>
                </a:solidFill>
              </a:rPr>
              <a:t>2.PMGM</a:t>
            </a:r>
            <a:r>
              <a:rPr lang="zh-CN" altLang="en-US" sz="1575" b="0">
                <a:solidFill>
                  <a:srgbClr val="111111"/>
                </a:solidFill>
              </a:rPr>
              <a:t>只有一路</a:t>
            </a:r>
            <a:r>
              <a:rPr lang="en-US" altLang="zh-CN" sz="1575" b="0">
                <a:solidFill>
                  <a:srgbClr val="111111"/>
                </a:solidFill>
              </a:rPr>
              <a:t>thermal</a:t>
            </a:r>
            <a:r>
              <a:rPr lang="zh-CN" altLang="en-US" sz="1575" b="0">
                <a:solidFill>
                  <a:srgbClr val="111111"/>
                </a:solidFill>
              </a:rPr>
              <a:t>输入，应该是</a:t>
            </a:r>
            <a:r>
              <a:rPr lang="en-US" altLang="zh-CN" sz="1575" b="0">
                <a:solidFill>
                  <a:srgbClr val="111111"/>
                </a:solidFill>
              </a:rPr>
              <a:t>rgb+thermal</a:t>
            </a:r>
            <a:endParaRPr lang="en-US" altLang="zh-CN" sz="15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MAFM 模块内部结构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48" y="1219200"/>
            <a:ext cx="8570904" cy="433387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914400" y="5715000"/>
            <a:ext cx="103632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MAFM 是 COFNet 中用于 RGB 与 Thermal 特征融合的核心模块，目标是在跨模态融合中利用两种模态的互补信息，并通过双向 Cross Attention 和 Mask 引导降低模态偏置。</a:t>
            </a:r>
            <a:endParaRPr sz="1575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MAFM：融合目标与模态偏置问题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28750"/>
            <a:ext cx="10896600" cy="461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MAFM 是 COFNet 中用于 RGB 与 Thermal 特征融合的核心模块。它的主要目标是在跨模态融合过程中充分利用两个模态的互补信息，同时避免单一模态占据主导地位导致的模态偏置问题。</a:t>
            </a:r>
            <a:endParaRPr sz="1725" b="0">
              <a:solidFill>
                <a:srgbClr val="111111"/>
              </a:solidFill>
            </a:endParaRPr>
          </a:p>
          <a:p>
            <a:endParaRPr sz="1725"/>
          </a:p>
          <a:p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所谓模态偏置，是指不同模态本身的信息质量存在差异。RGB 通常包含更丰富的纹理和语义信息，而 Thermal 在弱光、遮挡等情况下能够提供更稳定的目标结构信息。训练过程中，网络容易倾向于依赖 RGB，而忽略 Thermal 的有效信息，最终导致融合模型对某一模态过度依赖。</a:t>
            </a:r>
            <a:endParaRPr sz="1725" b="0">
              <a:solidFill>
                <a:srgbClr val="111111"/>
              </a:solidFill>
            </a:endParaRPr>
          </a:p>
          <a:p>
            <a:endParaRPr sz="1725"/>
          </a:p>
          <a:p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当 RGB 信息受到干扰，例如曝光、低光等场景，模型性能会明显下降。因此，MAFM 采用双向跨模态注意力机制，使 RGB 与 Thermal 两个分支能够相互查询和交换信息，从结构上降低模态偏置。</a:t>
            </a:r>
            <a:endParaRPr sz="172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MAFM：整体网络中的输入与符号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28750"/>
            <a:ext cx="10896600" cy="461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从整体网络结构来看，MAFM 并不是简单的 RGB-Thermal 双输入模块，而是一个由 RGB 特征、Thermal 特征以及 Mask 引导信息共同参与的融合模块。</a:t>
            </a:r>
            <a:endParaRPr sz="1725" b="0">
              <a:solidFill>
                <a:srgbClr val="111111"/>
              </a:solidFill>
            </a:endParaRPr>
          </a:p>
          <a:p>
            <a:endParaRPr sz="1725"/>
          </a:p>
          <a:p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网络左侧包含 RGB、Thermal 和 GT Mask 三路输入。RGB 和 Thermal 分别经过对应卷积层提取多尺度特征，得到不同阶段的特征表示 Fri 和 Fti。其中 F 表示 Feature，即特征图；r 表示 RGB 模态；t 表示 Thermal 模态；i 表示第 i 个尺度。</a:t>
            </a:r>
            <a:endParaRPr sz="1725" b="0">
              <a:solidFill>
                <a:srgbClr val="111111"/>
              </a:solidFill>
            </a:endParaRPr>
          </a:p>
          <a:p>
            <a:endParaRPr sz="1725"/>
          </a:p>
          <a:p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GT Mask 经过 Mask Conv Layers 后得到对应尺度的 mask 特征，用于指导注意力计算区域，使模型更加关注目标区域，减少背景干扰。</a:t>
            </a:r>
            <a:endParaRPr sz="172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MAFM：进入注意力前的预处理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28750"/>
            <a:ext cx="10896600" cy="461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在进入注意力计算之前，RGB 和 Thermal 特征需要进行预处理。</a:t>
            </a:r>
            <a:endParaRPr sz="1650" b="0">
              <a:solidFill>
                <a:srgbClr val="111111"/>
              </a:solidFill>
            </a:endParaRPr>
          </a:p>
          <a:p>
            <a:endParaRPr sz="1650"/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首先，通过</a:t>
            </a:r>
            <a:r>
              <a:rPr lang="en-US" sz="1650" b="0">
                <a:solidFill>
                  <a:srgbClr val="111111"/>
                </a:solidFill>
              </a:rPr>
              <a:t>LN</a:t>
            </a:r>
            <a:r>
              <a:rPr lang="zh-CN" altLang="en-US" sz="1650" b="0">
                <a:solidFill>
                  <a:srgbClr val="111111"/>
                </a:solidFill>
              </a:rPr>
              <a:t>归一化层</a:t>
            </a:r>
            <a:r>
              <a:rPr sz="1650" b="0">
                <a:solidFill>
                  <a:srgbClr val="111111"/>
                </a:solidFill>
              </a:rPr>
              <a:t>对不同模态特征进行归一化，使 RGB 和 Thermal 特征分布更加一致，减少由于模态数值范围差异造成的融合偏差。</a:t>
            </a:r>
            <a:r>
              <a:rPr lang="zh-CN" sz="1650" b="0">
                <a:solidFill>
                  <a:srgbClr val="111111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1650" b="0">
                <a:solidFill>
                  <a:srgbClr val="111111"/>
                </a:solidFill>
                <a:ea typeface="宋体" panose="02010600030101010101" pitchFamily="2" charset="-122"/>
              </a:rPr>
              <a:t>RGB </a:t>
            </a:r>
            <a:r>
              <a:rPr lang="zh-CN" altLang="en-US" sz="1650" b="0">
                <a:solidFill>
                  <a:srgbClr val="111111"/>
                </a:solidFill>
                <a:ea typeface="宋体" panose="02010600030101010101" pitchFamily="2" charset="-122"/>
              </a:rPr>
              <a:t>和 </a:t>
            </a:r>
            <a:r>
              <a:rPr lang="en-US" altLang="zh-CN" sz="1650" b="0">
                <a:solidFill>
                  <a:srgbClr val="111111"/>
                </a:solidFill>
                <a:ea typeface="宋体" panose="02010600030101010101" pitchFamily="2" charset="-122"/>
              </a:rPr>
              <a:t>Thermal </a:t>
            </a:r>
            <a:r>
              <a:rPr lang="zh-CN" altLang="en-US" sz="1650" b="0">
                <a:solidFill>
                  <a:srgbClr val="111111"/>
                </a:solidFill>
                <a:ea typeface="宋体" panose="02010600030101010101" pitchFamily="2" charset="-122"/>
              </a:rPr>
              <a:t>特征分布可能不同，例如</a:t>
            </a:r>
            <a:r>
              <a:rPr lang="en-US" altLang="zh-CN" sz="1650" b="0">
                <a:solidFill>
                  <a:srgbClr val="111111"/>
                </a:solidFill>
                <a:ea typeface="宋体" panose="02010600030101010101" pitchFamily="2" charset="-122"/>
              </a:rPr>
              <a:t>rgb 0-20</a:t>
            </a:r>
            <a:r>
              <a:rPr lang="zh-CN" altLang="en-US" sz="1650" b="0">
                <a:solidFill>
                  <a:srgbClr val="111111"/>
                </a:solidFill>
                <a:ea typeface="宋体" panose="02010600030101010101" pitchFamily="2" charset="-122"/>
              </a:rPr>
              <a:t>均值为</a:t>
            </a:r>
            <a:r>
              <a:rPr lang="en-US" altLang="zh-CN" sz="1650" b="0">
                <a:solidFill>
                  <a:srgbClr val="111111"/>
                </a:solidFill>
                <a:ea typeface="宋体" panose="02010600030101010101" pitchFamily="2" charset="-122"/>
              </a:rPr>
              <a:t>7.8,thermal 0-3</a:t>
            </a:r>
            <a:r>
              <a:rPr lang="zh-CN" altLang="en-US" sz="1650" b="0">
                <a:solidFill>
                  <a:srgbClr val="111111"/>
                </a:solidFill>
                <a:ea typeface="宋体" panose="02010600030101010101" pitchFamily="2" charset="-122"/>
              </a:rPr>
              <a:t>均值为</a:t>
            </a:r>
            <a:r>
              <a:rPr lang="en-US" altLang="zh-CN" sz="1650" b="0">
                <a:solidFill>
                  <a:srgbClr val="111111"/>
                </a:solidFill>
                <a:ea typeface="宋体" panose="02010600030101010101" pitchFamily="2" charset="-122"/>
              </a:rPr>
              <a:t>0.8</a:t>
            </a:r>
            <a:r>
              <a:rPr lang="zh-CN" sz="1650" b="0">
                <a:solidFill>
                  <a:srgbClr val="111111"/>
                </a:solidFill>
                <a:ea typeface="宋体" panose="02010600030101010101" pitchFamily="2" charset="-122"/>
              </a:rPr>
              <a:t>）</a:t>
            </a:r>
            <a:endParaRPr sz="1650" b="0">
              <a:solidFill>
                <a:srgbClr val="111111"/>
              </a:solidFill>
            </a:endParaRPr>
          </a:p>
          <a:p>
            <a:endParaRPr sz="1650"/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随后，通过 Average Pooling 降低特征空间分辨率。Attention 的计算复杂度与 token 数量平方相关，如果直接在高分辨率特征图上计算，会产生较大开销</a:t>
            </a:r>
            <a:r>
              <a:rPr lang="zh-CN" sz="1650" b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r>
              <a:rPr sz="1650" b="0">
                <a:solidFill>
                  <a:srgbClr val="111111"/>
                </a:solidFill>
              </a:rPr>
              <a:t>因此 MAFM 通过池化降低</a:t>
            </a:r>
            <a:r>
              <a:rPr lang="zh-CN" sz="1650" b="0">
                <a:solidFill>
                  <a:srgbClr val="111111"/>
                </a:solidFill>
              </a:rPr>
              <a:t>分辨率</a:t>
            </a:r>
            <a:r>
              <a:rPr sz="1650" b="0">
                <a:solidFill>
                  <a:srgbClr val="111111"/>
                </a:solidFill>
              </a:rPr>
              <a:t>。</a:t>
            </a:r>
            <a:endParaRPr sz="1650" b="0">
              <a:solidFill>
                <a:srgbClr val="111111"/>
              </a:solidFill>
            </a:endParaRPr>
          </a:p>
          <a:p>
            <a:endParaRPr sz="1650"/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之后，经过 DSConv3x3 进行局部特征映射，并通过 Rearrange 将二维特征图转换为 Attention 所需的序列形式。</a:t>
            </a:r>
            <a:endParaRPr sz="165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MAFM：Rearrange 与 Q/K/V 的含义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28750"/>
            <a:ext cx="10896600" cy="461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Rearrange 本质上只是特征维度转换，并不会改变特征语义。CNN 输出通常表示为 C x H x W，而 Attention 需要 N x C，其中 N = H x W，表示空间位置数量。因此，Rearrange 就是将每一个空间位置展开成一个 token，使 Attention 可以计算不同位置之间的相关性。</a:t>
            </a:r>
            <a:endParaRPr sz="1650" b="0">
              <a:solidFill>
                <a:srgbClr val="111111"/>
              </a:solidFill>
            </a:endParaRPr>
          </a:p>
          <a:p>
            <a:endParaRPr sz="1650"/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以 RGB 查询 Thermal 为例，RGB 特征 Fri 经过映射后生成 Query：Qri；Thermal 特征 Fti 经过不同映射生成 Key 和 Value：Kti, Vti。随后计算 Attention(Qri, Kti, Vti)。</a:t>
            </a:r>
            <a:endParaRPr sz="1650" b="0">
              <a:solidFill>
                <a:srgbClr val="111111"/>
              </a:solidFill>
            </a:endParaRPr>
          </a:p>
          <a:p>
            <a:endParaRPr sz="1650"/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Query 可以理解为“当前模态希望寻找的信息”，Key 用于计算两个模态之间的相关性，Value 负责提供最终传递的信息。RGB 通过 Query 查询 Thermal 中与自身相关的位置，并将 Thermal 中有效信息融合到 RGB 特征中。</a:t>
            </a:r>
            <a:endParaRPr sz="1650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MAFM：双向 Cross Attention 降低模态偏置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1428750"/>
            <a:ext cx="10896600" cy="461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同一个模态特征会通过不同参数映射生成不同角色的 Query、Key 和 Value：Q = Wq</a:t>
            </a:r>
            <a:r>
              <a:rPr lang="en-US" sz="1575" b="0">
                <a:solidFill>
                  <a:srgbClr val="111111"/>
                </a:solidFill>
              </a:rPr>
              <a:t>*</a:t>
            </a:r>
            <a:r>
              <a:rPr sz="1575" b="0">
                <a:solidFill>
                  <a:srgbClr val="111111"/>
                </a:solidFill>
              </a:rPr>
              <a:t>F，K = Wk</a:t>
            </a:r>
            <a:r>
              <a:rPr lang="en-US" sz="1575" b="0">
                <a:solidFill>
                  <a:srgbClr val="111111"/>
                </a:solidFill>
              </a:rPr>
              <a:t>*</a:t>
            </a:r>
            <a:r>
              <a:rPr sz="1575" b="0">
                <a:solidFill>
                  <a:srgbClr val="111111"/>
                </a:solidFill>
              </a:rPr>
              <a:t>F，V = Wv</a:t>
            </a:r>
            <a:r>
              <a:rPr lang="en-US" sz="1575" b="0">
                <a:solidFill>
                  <a:srgbClr val="111111"/>
                </a:solidFill>
              </a:rPr>
              <a:t>*</a:t>
            </a:r>
            <a:r>
              <a:rPr sz="1575" b="0">
                <a:solidFill>
                  <a:srgbClr val="111111"/>
                </a:solidFill>
              </a:rPr>
              <a:t>F。三者来源相同，但映射参数不同，因此承担不同功能。</a:t>
            </a:r>
            <a:endParaRPr sz="1575" b="0">
              <a:solidFill>
                <a:srgbClr val="111111"/>
              </a:solidFill>
            </a:endParaRPr>
          </a:p>
          <a:p>
            <a:endParaRPr sz="1575"/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为了进一步避免模态偏置，MAFM 没有固定某一模态作为主要信息来源，而是设计完全对称的双向结构。一方面 RGB -&gt; Thermal，即 RGB 作为 Query，Thermal 提供 Key 和 Value；另一方面 Thermal -&gt; RGB，即 Thermal 作为 Query，RGB 提供 Key 和 Value。通过角色交换，两个模态在融合过程中地位相同，避免长期出现“RGB 主导、Thermal 辅助”的情况。</a:t>
            </a:r>
            <a:endParaRPr sz="1575" b="0">
              <a:solidFill>
                <a:srgbClr val="111111"/>
              </a:solidFill>
            </a:endParaRPr>
          </a:p>
          <a:p>
            <a:endParaRPr sz="1575"/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Mask-guided 机制利用目标 mask 对 Attention 过程进行约束。普通 Attention 可能把注意力分配到背景区域，而 Mask 可以提示目标所在位置，使跨模态信息交互更集中于目标区域。最终融合特征再经过 Conv1x1、Upsample 和 FFN 增强表达，送入后续检测头。该思想也可借鉴到 RGB-D 快递检测中，缓解曝光、遮挡和 Depth 信息利用不足的问题。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lang="zh-CN" sz="1575" b="0">
                <a:solidFill>
                  <a:srgbClr val="111111"/>
                </a:solidFill>
              </a:rPr>
              <a:t>最后，</a:t>
            </a:r>
            <a:r>
              <a:rPr>
                <a:sym typeface="+mn-ea"/>
              </a:rPr>
              <a:t>两个更新特征相加，再经过 LN + FFN，得到融合特征 Ffi。</a:t>
            </a:r>
            <a:endParaRPr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endParaRPr lang="zh-CN" sz="15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PMGM 伪 mask 生成模块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b="34817"/>
          <a:stretch>
            <a:fillRect/>
          </a:stretch>
        </p:blipFill>
        <p:spPr>
          <a:xfrm>
            <a:off x="767715" y="1988820"/>
            <a:ext cx="6191250" cy="241808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239000" y="1409700"/>
            <a:ext cx="400050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PMGM 的目的不是直接检测，而是在推理阶段生成给 MAFM 使用的 pseudo mask。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输入为同尺度 RGB/Thermal 特征，先用可学习权重 alpha、beta 融合。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</a:t>
            </a:r>
            <a:r>
              <a:rPr lang="zh-CN" altLang="en-US" sz="1575" b="0">
                <a:solidFill>
                  <a:srgbClr val="111111"/>
                </a:solidFill>
              </a:rPr>
              <a:t>再经过 </a:t>
            </a:r>
            <a:r>
              <a:rPr lang="en-US" altLang="zh-CN" sz="1575" b="0">
                <a:solidFill>
                  <a:srgbClr val="111111"/>
                </a:solidFill>
              </a:rPr>
              <a:t>CBR（Conv-BN-ReLU）</a:t>
            </a:r>
            <a:r>
              <a:rPr lang="zh-CN" altLang="en-US" sz="1575" b="0">
                <a:solidFill>
                  <a:srgbClr val="111111"/>
                </a:solidFill>
              </a:rPr>
              <a:t>模块进行基础特征提取与非线性激活，通过 </a:t>
            </a:r>
            <a:r>
              <a:rPr lang="en-US" altLang="zh-CN" sz="1575" b="0">
                <a:solidFill>
                  <a:srgbClr val="111111"/>
                </a:solidFill>
              </a:rPr>
              <a:t>BN </a:t>
            </a:r>
            <a:r>
              <a:rPr lang="zh-CN" altLang="en-US" sz="1575" b="0">
                <a:solidFill>
                  <a:srgbClr val="111111"/>
                </a:solidFill>
                <a:ea typeface="宋体" panose="02010600030101010101" pitchFamily="2" charset="-122"/>
              </a:rPr>
              <a:t>（批量</a:t>
            </a:r>
            <a:r>
              <a:rPr lang="zh-CN" altLang="en-US" sz="1575" b="0">
                <a:solidFill>
                  <a:srgbClr val="111111"/>
                </a:solidFill>
                <a:ea typeface="宋体" panose="02010600030101010101" pitchFamily="2" charset="-122"/>
              </a:rPr>
              <a:t>归一化）</a:t>
            </a:r>
            <a:r>
              <a:rPr lang="zh-CN" altLang="en-US" sz="1575" b="0">
                <a:solidFill>
                  <a:srgbClr val="111111"/>
                </a:solidFill>
              </a:rPr>
              <a:t>层稳定特征分布、</a:t>
            </a:r>
            <a:r>
              <a:rPr lang="en-US" altLang="zh-CN" sz="1575" b="0">
                <a:solidFill>
                  <a:srgbClr val="111111"/>
                </a:solidFill>
              </a:rPr>
              <a:t>ReLU </a:t>
            </a:r>
            <a:r>
              <a:rPr lang="zh-CN" altLang="en-US" sz="1575" b="0">
                <a:solidFill>
                  <a:srgbClr val="111111"/>
                </a:solidFill>
              </a:rPr>
              <a:t>增强特征表达；随后利用 </a:t>
            </a:r>
            <a:r>
              <a:rPr lang="en-US" altLang="zh-CN" sz="1575" b="0">
                <a:solidFill>
                  <a:srgbClr val="111111"/>
                </a:solidFill>
              </a:rPr>
              <a:t>DSConv（</a:t>
            </a:r>
            <a:r>
              <a:rPr lang="zh-CN" altLang="en-US" sz="1575" b="0">
                <a:solidFill>
                  <a:srgbClr val="111111"/>
                </a:solidFill>
              </a:rPr>
              <a:t>深度可分离卷积）在降低计算量的同时提取局部空间信息，并通过 </a:t>
            </a:r>
            <a:r>
              <a:rPr lang="en-US" altLang="zh-CN" sz="1575" b="0">
                <a:solidFill>
                  <a:srgbClr val="111111"/>
                </a:solidFill>
              </a:rPr>
              <a:t>Conv1×1 </a:t>
            </a:r>
            <a:r>
              <a:rPr lang="zh-CN" altLang="en-US" sz="1575" b="0">
                <a:solidFill>
                  <a:srgbClr val="111111"/>
                </a:solidFill>
              </a:rPr>
              <a:t>调整特征通道维度，最后结合 </a:t>
            </a:r>
            <a:r>
              <a:rPr lang="en-US" altLang="zh-CN" sz="1575" b="0">
                <a:solidFill>
                  <a:srgbClr val="111111"/>
                </a:solidFill>
              </a:rPr>
              <a:t>SAM</a:t>
            </a:r>
            <a:r>
              <a:rPr lang="zh-CN" altLang="en-US" sz="1575" b="0">
                <a:solidFill>
                  <a:srgbClr val="111111"/>
                </a:solidFill>
              </a:rPr>
              <a:t>突出目标区域的重要特征，最终输出尺寸为 </a:t>
            </a:r>
            <a:r>
              <a:rPr lang="en-US" altLang="zh-CN" sz="1575" b="0">
                <a:solidFill>
                  <a:srgbClr val="111111"/>
                </a:solidFill>
              </a:rPr>
              <a:t>N×1×H×W </a:t>
            </a:r>
            <a:r>
              <a:rPr lang="zh-CN" altLang="en-US" sz="1575" b="0">
                <a:solidFill>
                  <a:srgbClr val="111111"/>
                </a:solidFill>
              </a:rPr>
              <a:t>的预测 </a:t>
            </a:r>
            <a:r>
              <a:rPr lang="en-US" altLang="zh-CN" sz="1575" b="0">
                <a:solidFill>
                  <a:srgbClr val="111111"/>
                </a:solidFill>
              </a:rPr>
              <a:t>mask。</a:t>
            </a:r>
            <a:endParaRPr sz="15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论文公式：总损失与检测 / 重构损失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2951453"/>
            <a:ext cx="5715000" cy="859844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7143750" y="1524000"/>
            <a:ext cx="4000500" cy="3714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总损失由五部分组成：L_det、L_re、L_pre、RGB 对比损失、Thermal 对比损失。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L_det 包含 bbox 分类</a:t>
            </a:r>
            <a:r>
              <a:rPr lang="zh-CN" sz="1575" b="0">
                <a:solidFill>
                  <a:srgbClr val="111111"/>
                </a:solidFill>
              </a:rPr>
              <a:t>损失</a:t>
            </a:r>
            <a:r>
              <a:rPr sz="1575" b="0">
                <a:solidFill>
                  <a:srgbClr val="111111"/>
                </a:solidFill>
              </a:rPr>
              <a:t>和回归</a:t>
            </a:r>
            <a:r>
              <a:rPr lang="zh-CN" sz="1575" b="0">
                <a:solidFill>
                  <a:srgbClr val="111111"/>
                </a:solidFill>
              </a:rPr>
              <a:t>损失</a:t>
            </a:r>
            <a:r>
              <a:rPr sz="1575" b="0">
                <a:solidFill>
                  <a:srgbClr val="111111"/>
                </a:solidFill>
              </a:rPr>
              <a:t>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L_re </a:t>
            </a:r>
            <a:r>
              <a:rPr lang="zh-CN" sz="1575" b="0">
                <a:solidFill>
                  <a:srgbClr val="111111"/>
                </a:solidFill>
              </a:rPr>
              <a:t>使用的是</a:t>
            </a:r>
            <a:r>
              <a:rPr sz="1575" b="0">
                <a:solidFill>
                  <a:srgbClr val="111111"/>
                </a:solidFill>
              </a:rPr>
              <a:t> L2</a:t>
            </a:r>
            <a:r>
              <a:rPr lang="zh-CN" sz="1575" b="0">
                <a:solidFill>
                  <a:srgbClr val="111111"/>
                </a:solidFill>
              </a:rPr>
              <a:t>损失</a:t>
            </a:r>
            <a:r>
              <a:rPr lang="zh-CN" sz="1575" b="0">
                <a:solidFill>
                  <a:srgbClr val="111111"/>
                </a:solidFill>
                <a:ea typeface="宋体" panose="02010600030101010101" pitchFamily="2" charset="-122"/>
              </a:rPr>
              <a:t>，</a:t>
            </a:r>
            <a:r>
              <a:rPr lang="zh-CN" altLang="en-US" sz="1575" b="0">
                <a:solidFill>
                  <a:srgbClr val="111111"/>
                </a:solidFill>
                <a:ea typeface="宋体" panose="02010600030101010101" pitchFamily="2" charset="-122"/>
              </a:rPr>
              <a:t>计算所有像素差值平方，让 </a:t>
            </a:r>
            <a:r>
              <a:rPr lang="en-US" altLang="zh-CN" sz="1575" b="0">
                <a:solidFill>
                  <a:srgbClr val="111111"/>
                </a:solidFill>
                <a:ea typeface="宋体" panose="02010600030101010101" pitchFamily="2" charset="-122"/>
              </a:rPr>
              <a:t>mask </a:t>
            </a:r>
            <a:r>
              <a:rPr lang="zh-CN" altLang="en-US" sz="1575" b="0">
                <a:solidFill>
                  <a:srgbClr val="111111"/>
                </a:solidFill>
                <a:ea typeface="宋体" panose="02010600030101010101" pitchFamily="2" charset="-122"/>
              </a:rPr>
              <a:t>分支学习："什么区域是目标"。</a:t>
            </a:r>
            <a:endParaRPr lang="zh-CN" altLang="en-US" sz="1575" b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algn="l">
              <a:buClrTx/>
              <a:buSzTx/>
              <a:buFontTx/>
              <a:defRPr sz="1575" b="0">
                <a:solidFill>
                  <a:srgbClr val="111111"/>
                </a:solidFill>
              </a:defRPr>
            </a:pPr>
            <a:r>
              <a:rPr>
                <a:sym typeface="+mn-ea"/>
              </a:rPr>
              <a:t>• </a:t>
            </a:r>
            <a:r>
              <a:rPr lang="zh-CN" sz="1575" b="0">
                <a:solidFill>
                  <a:srgbClr val="111111"/>
                </a:solidFill>
              </a:rPr>
              <a:t>L_pre使用的是BCE损失，对整个</a:t>
            </a:r>
            <a:r>
              <a:rPr lang="en-US" altLang="zh-CN" sz="1575" b="0">
                <a:solidFill>
                  <a:srgbClr val="111111"/>
                </a:solidFill>
              </a:rPr>
              <a:t>mask</a:t>
            </a:r>
            <a:r>
              <a:rPr lang="zh-CN" altLang="en-US" sz="1575" b="0">
                <a:solidFill>
                  <a:srgbClr val="111111"/>
                </a:solidFill>
              </a:rPr>
              <a:t>的所有像素损失求平均。</a:t>
            </a:r>
            <a:endParaRPr lang="zh-CN" sz="1575" b="0">
              <a:solidFill>
                <a:srgbClr val="111111"/>
              </a:solidFill>
            </a:endParaRPr>
          </a:p>
          <a:p>
            <a:pPr algn="l">
              <a:buClrTx/>
              <a:buSzTx/>
              <a:buFontTx/>
              <a:defRPr sz="1575" b="0">
                <a:solidFill>
                  <a:srgbClr val="111111"/>
                </a:solidFill>
              </a:defRPr>
            </a:pPr>
            <a:endParaRPr lang="zh-CN"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endParaRPr sz="1575" b="0">
              <a:solidFill>
                <a:srgbClr val="11111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115" y="3811270"/>
            <a:ext cx="4401185" cy="1309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lang="en-US" sz="2700" b="1">
                <a:solidFill>
                  <a:srgbClr val="111111"/>
                </a:solidFill>
              </a:rPr>
              <a:t>Lc:</a:t>
            </a:r>
            <a:r>
              <a:rPr sz="2700" b="1">
                <a:solidFill>
                  <a:srgbClr val="111111"/>
                </a:solidFill>
              </a:rPr>
              <a:t>Mask Feature Contrastive Loss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8745" y="1285875"/>
            <a:ext cx="3470984" cy="46196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667500" y="1381125"/>
            <a:ext cx="4476750" cy="428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先对 mask feature 与</a:t>
            </a:r>
            <a:r>
              <a:rPr lang="en-US" sz="1575" b="0">
                <a:solidFill>
                  <a:srgbClr val="111111"/>
                </a:solidFill>
              </a:rPr>
              <a:t>rgb/thermal</a:t>
            </a:r>
            <a:r>
              <a:rPr sz="1575" b="0">
                <a:solidFill>
                  <a:srgbClr val="111111"/>
                </a:solidFill>
              </a:rPr>
              <a:t>模态 feature 做 GAP</a:t>
            </a:r>
            <a:r>
              <a:rPr lang="zh-CN" sz="1575" b="0">
                <a:solidFill>
                  <a:srgbClr val="111111"/>
                </a:solidFill>
                <a:ea typeface="宋体" panose="02010600030101010101" pitchFamily="2" charset="-122"/>
              </a:rPr>
              <a:t>（全局平均池化）</a:t>
            </a:r>
            <a:r>
              <a:rPr sz="1575" b="0">
                <a:solidFill>
                  <a:srgbClr val="111111"/>
                </a:solidFill>
              </a:rPr>
              <a:t> + Flatten</a:t>
            </a:r>
            <a:r>
              <a:rPr lang="zh-CN" sz="1575" b="0">
                <a:solidFill>
                  <a:srgbClr val="111111"/>
                </a:solidFill>
                <a:ea typeface="宋体" panose="02010600030101010101" pitchFamily="2" charset="-122"/>
              </a:rPr>
              <a:t>（展平为</a:t>
            </a:r>
            <a:r>
              <a:rPr lang="zh-CN" sz="1575" b="0">
                <a:solidFill>
                  <a:srgbClr val="111111"/>
                </a:solidFill>
                <a:ea typeface="宋体" panose="02010600030101010101" pitchFamily="2" charset="-122"/>
              </a:rPr>
              <a:t>一维向量）</a:t>
            </a:r>
            <a:r>
              <a:rPr sz="1575" b="0">
                <a:solidFill>
                  <a:srgbClr val="111111"/>
                </a:solidFill>
              </a:rPr>
              <a:t>，得到向量 mi 与 ti。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再做 L2 normalize，计算相似度矩阵</a:t>
            </a:r>
            <a:r>
              <a:rPr lang="zh-CN" sz="1575" b="0">
                <a:solidFill>
                  <a:srgbClr val="111111"/>
                </a:solidFill>
                <a:ea typeface="宋体" panose="02010600030101010101" pitchFamily="2" charset="-122"/>
              </a:rPr>
              <a:t>，对角线</a:t>
            </a:r>
            <a:r>
              <a:rPr lang="en-US" altLang="zh-CN" sz="1575" b="0">
                <a:solidFill>
                  <a:srgbClr val="111111"/>
                </a:solidFill>
                <a:ea typeface="宋体" panose="02010600030101010101" pitchFamily="2" charset="-122"/>
              </a:rPr>
              <a:t>ii</a:t>
            </a:r>
            <a:r>
              <a:rPr lang="zh-CN" sz="1575" b="0">
                <a:solidFill>
                  <a:srgbClr val="111111"/>
                </a:solidFill>
                <a:ea typeface="宋体" panose="02010600030101010101" pitchFamily="2" charset="-122"/>
              </a:rPr>
              <a:t>是正样本对</a:t>
            </a:r>
            <a:r>
              <a:rPr lang="zh-CN" altLang="en-US" sz="1575" b="0">
                <a:solidFill>
                  <a:srgbClr val="111111"/>
                </a:solidFill>
                <a:ea typeface="宋体" panose="02010600030101010101" pitchFamily="2" charset="-122"/>
              </a:rPr>
              <a:t>，非对角线是负样本对</a:t>
            </a:r>
            <a:r>
              <a:rPr sz="1575" b="0">
                <a:solidFill>
                  <a:srgbClr val="111111"/>
                </a:solidFill>
              </a:rPr>
              <a:t>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同一样本的 mask-feature 与 modality-feature 是正样本，对角线 Sii 应变大。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不同样本作为负样本，非对角线相似度应变小。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最终用交叉熵</a:t>
            </a:r>
            <a:r>
              <a:rPr lang="zh-CN" sz="1575" b="0">
                <a:solidFill>
                  <a:srgbClr val="111111"/>
                </a:solidFill>
                <a:ea typeface="宋体" panose="02010600030101010101" pitchFamily="2" charset="-122"/>
              </a:rPr>
              <a:t>：</a:t>
            </a:r>
            <a:endParaRPr lang="zh-CN" sz="1575" b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endParaRPr lang="zh-CN" sz="1575" b="0">
              <a:solidFill>
                <a:srgbClr val="111111"/>
              </a:solidFill>
              <a:ea typeface="宋体" panose="02010600030101010101" pitchFamily="2" charset="-122"/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做双向匹配：mask 找模态、模态找 mask。</a:t>
            </a:r>
            <a:endParaRPr sz="1575" b="0">
              <a:solidFill>
                <a:srgbClr val="11111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235" y="3717290"/>
            <a:ext cx="2228215" cy="482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推理阶段：只保留 RGB/Thermal 主流程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397229"/>
            <a:ext cx="6191250" cy="4006392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239000" y="1428750"/>
            <a:ext cx="4000500" cy="381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推理时没有 GT bbox，因此没有真实 box-level mask 输入。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PMGM 用 RGB/Thermal 特征生成 pseudo mask，替代训练时的 GT mask 指导 MAFM。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mask backbone、mask reconstruction loss、contrastive loss 只在训练中发挥作用，不增加推理时的损失计算。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最终输出仍是标准检测结果：bounding boxes + class labels。</a:t>
            </a:r>
            <a:endParaRPr sz="15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论文 Table I：LLVIP 与 FLIR 主结果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4806" y="1285875"/>
            <a:ext cx="9202389" cy="40005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904875" y="5619750"/>
            <a:ext cx="10382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COFNet 在 LLVIP 上 AP50/AP75/AP 为 97.7/75.9/65.9；在 FLIR 上 mAP50/mAP75/mAP 为 83.6/41.7/44.6。</a:t>
            </a:r>
            <a:endParaRPr sz="1650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检测结果对比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10668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rPr sz="1200" b="0">
                <a:solidFill>
                  <a:srgbClr val="666666"/>
                </a:solidFill>
              </a:rPr>
              <a:t>定性分析</a:t>
            </a:r>
            <a:endParaRPr sz="1200" b="0">
              <a:solidFill>
                <a:srgbClr val="666666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7557" y="1257300"/>
            <a:ext cx="6316885" cy="42386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1143000" y="5667375"/>
            <a:ext cx="990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夜间、小目标、遮挡和目标密集场景中，COFNet 的框更贴近目标，背景误检更少。</a:t>
            </a:r>
            <a:endParaRPr sz="1725" b="1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融合模块与 mask 质量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410768"/>
            <a:ext cx="5810250" cy="270296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21008"/>
            <a:ext cx="4476750" cy="2434859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1047750" y="4810125"/>
            <a:ext cx="9810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Table V：DSConv 降低 attention 参数量；MFG 和 SAM 带来少量开销。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Fig.7：Pred Mask 粗略定位目标，GT Mask 更精确；mask 质量越高，MAFM 的引导越可靠。</a:t>
            </a:r>
            <a:endParaRPr sz="15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47700" y="342900"/>
            <a:ext cx="10896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mask 质量影响</a:t>
            </a:r>
            <a:endParaRPr sz="2700" b="1">
              <a:solidFill>
                <a:srgbClr val="111111"/>
              </a:solidFill>
            </a:endParaRPr>
          </a:p>
        </p:txBody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47700" y="952500"/>
            <a:ext cx="10896600" cy="0"/>
          </a:xfrm>
          <a:prstGeom prst="line">
            <a:avLst/>
          </a:prstGeom>
          <a:noFill/>
          <a:ln w="12383">
            <a:solidFill>
              <a:srgbClr val="111111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381" y="1524000"/>
            <a:ext cx="5448238" cy="219075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239000" y="1476375"/>
            <a:ext cx="400050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Full Mask：全 1，缺少目标区域定位能力，mAP50 为 83.0。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Pred Mask：PMGM 预测，粗略表示目标区域，mAP50 提升到 83.6。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GT Mask：精确 box-level mask，mAP50 进一步到 84.1。</a:t>
            </a:r>
            <a:endParaRPr sz="1575" b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结论：COFNet 对 mask 质量敏感，PMGM 的鲁棒性是后续改进重点。</a:t>
            </a:r>
            <a:endParaRPr sz="1575" b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4497</Words>
  <Application>WPS 演示</Application>
  <PresentationFormat>Converted Presentation</PresentationFormat>
  <Paragraphs>138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WPS_1630931622</cp:lastModifiedBy>
  <cp:revision>5</cp:revision>
  <dcterms:created xsi:type="dcterms:W3CDTF">2026-08-01T18:06:00Z</dcterms:created>
  <dcterms:modified xsi:type="dcterms:W3CDTF">2026-08-07T02:22:35Z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AD32AD8C21B14FD693BBB8C2C5CEC574_12</vt:lpwstr>
  </property>
</Properties>
</file>